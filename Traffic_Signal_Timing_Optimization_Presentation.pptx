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9671A0113 Arun teja" userId="c46591972e46f776" providerId="LiveId" clId="{2211D329-76AD-4D18-8862-92B8F73448CA}"/>
    <pc:docChg chg="custSel modSld">
      <pc:chgData name="19671A0113 Arun teja" userId="c46591972e46f776" providerId="LiveId" clId="{2211D329-76AD-4D18-8862-92B8F73448CA}" dt="2026-01-31T05:07:25.286" v="1" actId="478"/>
      <pc:docMkLst>
        <pc:docMk/>
      </pc:docMkLst>
      <pc:sldChg chg="delSp modSp mod">
        <pc:chgData name="19671A0113 Arun teja" userId="c46591972e46f776" providerId="LiveId" clId="{2211D329-76AD-4D18-8862-92B8F73448CA}" dt="2026-01-31T05:07:25.286" v="1" actId="478"/>
        <pc:sldMkLst>
          <pc:docMk/>
          <pc:sldMk cId="733689570" sldId="256"/>
        </pc:sldMkLst>
        <pc:spChg chg="del mod">
          <ac:chgData name="19671A0113 Arun teja" userId="c46591972e46f776" providerId="LiveId" clId="{2211D329-76AD-4D18-8862-92B8F73448CA}" dt="2026-01-31T05:07:25.286" v="1" actId="478"/>
          <ac:spMkLst>
            <pc:docMk/>
            <pc:sldMk cId="733689570" sldId="256"/>
            <ac:spMk id="5" creationId="{6898689B-278C-80BC-B4A9-F90E0E6CEC00}"/>
          </ac:spMkLst>
        </pc:spChg>
      </pc:sldChg>
    </pc:docChg>
  </pc:docChgLst>
  <pc:docChgLst>
    <pc:chgData name="19671A0113 Arun teja" userId="c46591972e46f776" providerId="LiveId" clId="{657A71CC-FA62-424D-8D33-E510F73189F2}"/>
    <pc:docChg chg="undo custSel modSld">
      <pc:chgData name="19671A0113 Arun teja" userId="c46591972e46f776" providerId="LiveId" clId="{657A71CC-FA62-424D-8D33-E510F73189F2}" dt="2025-05-20T12:53:05.196" v="108" actId="20577"/>
      <pc:docMkLst>
        <pc:docMk/>
      </pc:docMkLst>
      <pc:sldChg chg="modSp mod">
        <pc:chgData name="19671A0113 Arun teja" userId="c46591972e46f776" providerId="LiveId" clId="{657A71CC-FA62-424D-8D33-E510F73189F2}" dt="2025-05-20T12:52:04.502" v="100" actId="20577"/>
        <pc:sldMkLst>
          <pc:docMk/>
          <pc:sldMk cId="774322687" sldId="263"/>
        </pc:sldMkLst>
      </pc:sldChg>
      <pc:sldChg chg="modSp mod">
        <pc:chgData name="19671A0113 Arun teja" userId="c46591972e46f776" providerId="LiveId" clId="{657A71CC-FA62-424D-8D33-E510F73189F2}" dt="2025-05-20T12:53:05.196" v="108" actId="20577"/>
        <pc:sldMkLst>
          <pc:docMk/>
          <pc:sldMk cId="454206389" sldId="264"/>
        </pc:sldMkLst>
      </pc:sldChg>
      <pc:sldChg chg="modSp mod">
        <pc:chgData name="19671A0113 Arun teja" userId="c46591972e46f776" providerId="LiveId" clId="{657A71CC-FA62-424D-8D33-E510F73189F2}" dt="2025-05-20T12:14:06.653" v="1" actId="113"/>
        <pc:sldMkLst>
          <pc:docMk/>
          <pc:sldMk cId="4085366206" sldId="266"/>
        </pc:sldMkLst>
      </pc:sldChg>
    </pc:docChg>
  </pc:docChgLst>
  <pc:docChgLst>
    <pc:chgData name="19671A0113 Arun teja" userId="c46591972e46f776" providerId="LiveId" clId="{7201B2C0-876C-4127-9AA9-2A5F78DDED4A}"/>
    <pc:docChg chg="undo custSel modSld">
      <pc:chgData name="19671A0113 Arun teja" userId="c46591972e46f776" providerId="LiveId" clId="{7201B2C0-876C-4127-9AA9-2A5F78DDED4A}" dt="2025-05-20T12:04:47.075" v="335" actId="20577"/>
      <pc:docMkLst>
        <pc:docMk/>
      </pc:docMkLst>
      <pc:sldChg chg="modSp mod">
        <pc:chgData name="19671A0113 Arun teja" userId="c46591972e46f776" providerId="LiveId" clId="{7201B2C0-876C-4127-9AA9-2A5F78DDED4A}" dt="2025-05-20T12:04:21.708" v="331" actId="113"/>
        <pc:sldMkLst>
          <pc:docMk/>
          <pc:sldMk cId="3685924557" sldId="258"/>
        </pc:sldMkLst>
      </pc:sldChg>
      <pc:sldChg chg="modSp mod">
        <pc:chgData name="19671A0113 Arun teja" userId="c46591972e46f776" providerId="LiveId" clId="{7201B2C0-876C-4127-9AA9-2A5F78DDED4A}" dt="2025-05-20T12:04:47.075" v="335" actId="20577"/>
        <pc:sldMkLst>
          <pc:docMk/>
          <pc:sldMk cId="4266430578" sldId="259"/>
        </pc:sldMkLst>
      </pc:sldChg>
      <pc:sldChg chg="modSp mod">
        <pc:chgData name="19671A0113 Arun teja" userId="c46591972e46f776" providerId="LiveId" clId="{7201B2C0-876C-4127-9AA9-2A5F78DDED4A}" dt="2025-05-19T21:52:04.473" v="140" actId="20577"/>
        <pc:sldMkLst>
          <pc:docMk/>
          <pc:sldMk cId="774322687" sldId="263"/>
        </pc:sldMkLst>
      </pc:sldChg>
      <pc:sldChg chg="modSp mod">
        <pc:chgData name="19671A0113 Arun teja" userId="c46591972e46f776" providerId="LiveId" clId="{7201B2C0-876C-4127-9AA9-2A5F78DDED4A}" dt="2025-05-20T01:10:36.357" v="214" actId="20577"/>
        <pc:sldMkLst>
          <pc:docMk/>
          <pc:sldMk cId="1848432554" sldId="265"/>
        </pc:sldMkLst>
      </pc:sldChg>
      <pc:sldChg chg="modSp mod">
        <pc:chgData name="19671A0113 Arun teja" userId="c46591972e46f776" providerId="LiveId" clId="{7201B2C0-876C-4127-9AA9-2A5F78DDED4A}" dt="2025-05-20T12:00:23.746" v="305" actId="14100"/>
        <pc:sldMkLst>
          <pc:docMk/>
          <pc:sldMk cId="4085366206" sldId="266"/>
        </pc:sldMkLst>
      </pc:sldChg>
      <pc:sldChg chg="addSp delSp modSp mod">
        <pc:chgData name="19671A0113 Arun teja" userId="c46591972e46f776" providerId="LiveId" clId="{7201B2C0-876C-4127-9AA9-2A5F78DDED4A}" dt="2025-05-20T12:02:51.970" v="316" actId="1076"/>
        <pc:sldMkLst>
          <pc:docMk/>
          <pc:sldMk cId="360386384" sldId="267"/>
        </pc:sldMkLst>
      </pc:sldChg>
      <pc:sldChg chg="addSp delSp modSp mod">
        <pc:chgData name="19671A0113 Arun teja" userId="c46591972e46f776" providerId="LiveId" clId="{7201B2C0-876C-4127-9AA9-2A5F78DDED4A}" dt="2025-05-20T12:03:32.617" v="324" actId="1076"/>
        <pc:sldMkLst>
          <pc:docMk/>
          <pc:sldMk cId="3026128647"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3AD16-412B-4FB9-B92F-806FCCC52A87}"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965C4A-21E1-4E14-9EA8-9730B7EFA44B}" type="slidenum">
              <a:rPr lang="en-IN" smtClean="0"/>
              <a:t>‹#›</a:t>
            </a:fld>
            <a:endParaRPr lang="en-IN"/>
          </a:p>
        </p:txBody>
      </p:sp>
    </p:spTree>
    <p:extLst>
      <p:ext uri="{BB962C8B-B14F-4D97-AF65-F5344CB8AC3E}">
        <p14:creationId xmlns:p14="http://schemas.microsoft.com/office/powerpoint/2010/main" val="335444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965C4A-21E1-4E14-9EA8-9730B7EFA44B}" type="slidenum">
              <a:rPr lang="en-IN" smtClean="0"/>
              <a:t>11</a:t>
            </a:fld>
            <a:endParaRPr lang="en-IN"/>
          </a:p>
        </p:txBody>
      </p:sp>
    </p:spTree>
    <p:extLst>
      <p:ext uri="{BB962C8B-B14F-4D97-AF65-F5344CB8AC3E}">
        <p14:creationId xmlns:p14="http://schemas.microsoft.com/office/powerpoint/2010/main" val="2422393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CA8A29C-4712-4DFA-9562-64C59CE6182C}" type="datetimeFigureOut">
              <a:rPr lang="en-IN" smtClean="0"/>
              <a:t>31-01-2026</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244162DD-A088-4FC9-89EA-5A74808E02E0}"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159576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A8A29C-4712-4DFA-9562-64C59CE6182C}"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4120241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A8A29C-4712-4DFA-9562-64C59CE6182C}"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162DD-A088-4FC9-89EA-5A74808E02E0}"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7953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A8A29C-4712-4DFA-9562-64C59CE6182C}"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1723226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A8A29C-4712-4DFA-9562-64C59CE6182C}"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334120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A8A29C-4712-4DFA-9562-64C59CE6182C}"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1393796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A8A29C-4712-4DFA-9562-64C59CE6182C}"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1527536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A8A29C-4712-4DFA-9562-64C59CE6182C}"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182752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A8A29C-4712-4DFA-9562-64C59CE6182C}"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2760491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A8A29C-4712-4DFA-9562-64C59CE6182C}"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35999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A8A29C-4712-4DFA-9562-64C59CE6182C}"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162DD-A088-4FC9-89EA-5A74808E02E0}" type="slidenum">
              <a:rPr lang="en-IN" smtClean="0"/>
              <a:t>‹#›</a:t>
            </a:fld>
            <a:endParaRPr lang="en-IN"/>
          </a:p>
        </p:txBody>
      </p:sp>
    </p:spTree>
    <p:extLst>
      <p:ext uri="{BB962C8B-B14F-4D97-AF65-F5344CB8AC3E}">
        <p14:creationId xmlns:p14="http://schemas.microsoft.com/office/powerpoint/2010/main" val="265755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CA8A29C-4712-4DFA-9562-64C59CE6182C}" type="datetimeFigureOut">
              <a:rPr lang="en-IN" smtClean="0"/>
              <a:t>31-01-2026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244162DD-A088-4FC9-89EA-5A74808E02E0}" type="slidenum">
              <a:rPr lang="en-IN" smtClean="0"/>
              <a:t>‹#›</a:t>
            </a:fld>
            <a:endParaRPr lang="en-IN"/>
          </a:p>
        </p:txBody>
      </p:sp>
    </p:spTree>
    <p:extLst>
      <p:ext uri="{BB962C8B-B14F-4D97-AF65-F5344CB8AC3E}">
        <p14:creationId xmlns:p14="http://schemas.microsoft.com/office/powerpoint/2010/main" val="1831790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07/s13369-020-04835-6" TargetMode="External"/><Relationship Id="rId2" Type="http://schemas.openxmlformats.org/officeDocument/2006/relationships/hyperlink" Target="https://doi.org/10.3390/s21082631" TargetMode="External"/><Relationship Id="rId1" Type="http://schemas.openxmlformats.org/officeDocument/2006/relationships/slideLayout" Target="../slideLayouts/slideLayout2.xml"/><Relationship Id="rId4" Type="http://schemas.openxmlformats.org/officeDocument/2006/relationships/hyperlink" Target="https://doi.org/10.1007/s11036-019-01225-7"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doi.org/10.1007/s41062-022-00895-9"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E5C6-8CEB-333D-7E2B-23DEE6ED6EA7}"/>
              </a:ext>
            </a:extLst>
          </p:cNvPr>
          <p:cNvSpPr>
            <a:spLocks noGrp="1"/>
          </p:cNvSpPr>
          <p:nvPr>
            <p:ph type="ctrTitle"/>
          </p:nvPr>
        </p:nvSpPr>
        <p:spPr>
          <a:xfrm>
            <a:off x="1692695" y="73152"/>
            <a:ext cx="9418320" cy="4041648"/>
          </a:xfrm>
        </p:spPr>
        <p:txBody>
          <a:bodyPr/>
          <a:lstStyle/>
          <a:p>
            <a:r>
              <a:rPr lang="en-IN" sz="4800" b="1" kern="100" dirty="0">
                <a:effectLst/>
                <a:latin typeface="Times New Roman" panose="02020603050405020304" pitchFamily="18" charset="0"/>
                <a:ea typeface="Aptos" panose="020B0004020202020204" pitchFamily="34" charset="0"/>
                <a:cs typeface="Times New Roman" panose="02020603050405020304" pitchFamily="18" charset="0"/>
              </a:rPr>
              <a:t>Optimization of Traffic Signal Timing for Urban Intersections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Tree>
    <p:extLst>
      <p:ext uri="{BB962C8B-B14F-4D97-AF65-F5344CB8AC3E}">
        <p14:creationId xmlns:p14="http://schemas.microsoft.com/office/powerpoint/2010/main" val="73368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4509D-1624-7C14-78C9-63F4B3613FC0}"/>
              </a:ext>
            </a:extLst>
          </p:cNvPr>
          <p:cNvSpPr>
            <a:spLocks noGrp="1"/>
          </p:cNvSpPr>
          <p:nvPr>
            <p:ph type="title"/>
          </p:nvPr>
        </p:nvSpPr>
        <p:spPr>
          <a:xfrm>
            <a:off x="479356" y="233875"/>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B5A94C64-D174-E694-9F0F-A05D82655D99}"/>
              </a:ext>
            </a:extLst>
          </p:cNvPr>
          <p:cNvSpPr>
            <a:spLocks noGrp="1"/>
          </p:cNvSpPr>
          <p:nvPr>
            <p:ph idx="1"/>
          </p:nvPr>
        </p:nvSpPr>
        <p:spPr/>
        <p:txBody>
          <a:bodyPr>
            <a:normAutofit/>
          </a:bodyPr>
          <a:lstStyle/>
          <a:p>
            <a:pPr>
              <a:buNone/>
            </a:pPr>
            <a:r>
              <a:rPr lang="en-US" b="1" dirty="0">
                <a:latin typeface="Times New Roman" panose="02020603050405020304" pitchFamily="18" charset="0"/>
                <a:cs typeface="Times New Roman" panose="02020603050405020304" pitchFamily="18" charset="0"/>
              </a:rPr>
              <a:t>Urban Traffic Challenges</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Urban intersections are critical points in road networks where traffic congestion often peaks, leading to increased travel time, fuel consumption, and air pollution. Inefficient signal timing is a major contributor to these challenges.</a:t>
            </a:r>
          </a:p>
          <a:p>
            <a:pPr>
              <a:buNone/>
            </a:pPr>
            <a:r>
              <a:rPr lang="en-US" b="1" dirty="0">
                <a:latin typeface="Times New Roman" panose="02020603050405020304" pitchFamily="18" charset="0"/>
                <a:cs typeface="Times New Roman" panose="02020603050405020304" pitchFamily="18" charset="0"/>
              </a:rPr>
              <a:t>Need for Optimization</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With rapid urbanization and rising vehicle numbers, optimizing traffic signal timing is essential to ensure smoother traffic flow, minimize delays, and improve overall road safety and efficiency.</a:t>
            </a:r>
          </a:p>
          <a:p>
            <a:r>
              <a:rPr lang="en-US" b="1" dirty="0">
                <a:latin typeface="Times New Roman" panose="02020603050405020304" pitchFamily="18" charset="0"/>
                <a:cs typeface="Times New Roman" panose="02020603050405020304" pitchFamily="18" charset="0"/>
              </a:rPr>
              <a:t>Objective of the Study</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project focuses on developing data-driven and algorithmic approaches to optimize traffic signal timing at urban intersections. By leveraging intelligent traffic management systems and simulation tools, the goal is to enhance mobility and reduce congestion in city environments.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490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E25BB-240A-F0C1-3D88-7A9C50117880}"/>
              </a:ext>
            </a:extLst>
          </p:cNvPr>
          <p:cNvSpPr>
            <a:spLocks noGrp="1"/>
          </p:cNvSpPr>
          <p:nvPr>
            <p:ph type="title"/>
          </p:nvPr>
        </p:nvSpPr>
        <p:spPr>
          <a:xfrm>
            <a:off x="713232" y="128367"/>
            <a:ext cx="9692640" cy="1325562"/>
          </a:xfrm>
        </p:spPr>
        <p:txBody>
          <a:bodyPr/>
          <a:lstStyle/>
          <a:p>
            <a:pPr algn="ctr"/>
            <a:r>
              <a:rPr lang="en-IN" b="1" dirty="0">
                <a:solidFill>
                  <a:srgbClr val="002060"/>
                </a:solidFill>
              </a:rPr>
              <a:t>Problem statement</a:t>
            </a:r>
          </a:p>
        </p:txBody>
      </p:sp>
      <p:sp>
        <p:nvSpPr>
          <p:cNvPr id="3" name="Content Placeholder 2">
            <a:extLst>
              <a:ext uri="{FF2B5EF4-FFF2-40B4-BE49-F238E27FC236}">
                <a16:creationId xmlns:a16="http://schemas.microsoft.com/office/drawing/2014/main" id="{9E65AAF7-5E65-0363-8347-98B1E3963FB9}"/>
              </a:ext>
            </a:extLst>
          </p:cNvPr>
          <p:cNvSpPr>
            <a:spLocks noGrp="1"/>
          </p:cNvSpPr>
          <p:nvPr>
            <p:ph idx="1"/>
          </p:nvPr>
        </p:nvSpPr>
        <p:spPr/>
        <p:txBody>
          <a:bodyPr>
            <a:normAutofit/>
          </a:bodyPr>
          <a:lstStyle/>
          <a:p>
            <a:pPr>
              <a:buNone/>
            </a:pPr>
            <a:r>
              <a:rPr lang="en-US" b="1" dirty="0">
                <a:latin typeface="Times New Roman" panose="02020603050405020304" pitchFamily="18" charset="0"/>
                <a:cs typeface="Times New Roman" panose="02020603050405020304" pitchFamily="18" charset="0"/>
              </a:rPr>
              <a:t>Current Scenario</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Urban intersections often operate on fixed or outdated signal timings that do not adapt to real-time traffic conditions. This results in:</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Increased traffic congestion</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Long vehicle queues and delays</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Higher fuel consumption and emissions</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Reduced road safety and commuter satisfaction</a:t>
            </a:r>
          </a:p>
          <a:p>
            <a:pPr>
              <a:buNone/>
            </a:pPr>
            <a:r>
              <a:rPr lang="en-US" b="1" dirty="0">
                <a:latin typeface="Times New Roman" panose="02020603050405020304" pitchFamily="18" charset="0"/>
                <a:cs typeface="Times New Roman" panose="02020603050405020304" pitchFamily="18" charset="0"/>
              </a:rPr>
              <a:t>Core Problem</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lack of dynamic and data-driven traffic signal control leads to inefficient traffic management, especially during peak hours or unpredictable traffic surges.</a:t>
            </a:r>
          </a:p>
          <a:p>
            <a:r>
              <a:rPr lang="en-US" b="1" dirty="0">
                <a:latin typeface="Times New Roman" panose="02020603050405020304" pitchFamily="18" charset="0"/>
                <a:cs typeface="Times New Roman" panose="02020603050405020304" pitchFamily="18" charset="0"/>
              </a:rPr>
              <a:t>Need for Solution</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There is a pressing need to optimize traffic signal timing using intelligent algorithms and real-time data to ensure smoother traffic flow and sustainable urban mobility.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430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0C28-F417-5144-50A3-822572200485}"/>
              </a:ext>
            </a:extLst>
          </p:cNvPr>
          <p:cNvSpPr>
            <a:spLocks noGrp="1"/>
          </p:cNvSpPr>
          <p:nvPr>
            <p:ph type="title"/>
          </p:nvPr>
        </p:nvSpPr>
        <p:spPr>
          <a:xfrm>
            <a:off x="540903" y="225083"/>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Objectives of the Research</a:t>
            </a:r>
          </a:p>
        </p:txBody>
      </p:sp>
      <p:sp>
        <p:nvSpPr>
          <p:cNvPr id="3" name="Content Placeholder 2">
            <a:extLst>
              <a:ext uri="{FF2B5EF4-FFF2-40B4-BE49-F238E27FC236}">
                <a16:creationId xmlns:a16="http://schemas.microsoft.com/office/drawing/2014/main" id="{661EACDD-DF1F-22E3-574A-7BFB8D35639E}"/>
              </a:ext>
            </a:extLst>
          </p:cNvPr>
          <p:cNvSpPr>
            <a:spLocks noGrp="1"/>
          </p:cNvSpPr>
          <p:nvPr>
            <p:ph idx="1"/>
          </p:nvPr>
        </p:nvSpPr>
        <p:spPr/>
        <p:txBody>
          <a:bodyPr/>
          <a:lstStyle/>
          <a:p>
            <a:pPr>
              <a:buNone/>
            </a:pPr>
            <a:r>
              <a:rPr lang="en-US" sz="1400" dirty="0">
                <a:latin typeface="Times New Roman" panose="02020603050405020304" pitchFamily="18" charset="0"/>
                <a:cs typeface="Times New Roman" panose="02020603050405020304" pitchFamily="18" charset="0"/>
              </a:rPr>
              <a:t>The main objectives of this study are to:</a:t>
            </a: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Analyze</a:t>
            </a:r>
            <a:r>
              <a:rPr lang="en-US" sz="1400" dirty="0">
                <a:latin typeface="Times New Roman" panose="02020603050405020304" pitchFamily="18" charset="0"/>
                <a:cs typeface="Times New Roman" panose="02020603050405020304" pitchFamily="18" charset="0"/>
              </a:rPr>
              <a:t> current traffic signal timing strategies at urban intersections.</a:t>
            </a: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Identify</a:t>
            </a:r>
            <a:r>
              <a:rPr lang="en-US" sz="1400" dirty="0">
                <a:latin typeface="Times New Roman" panose="02020603050405020304" pitchFamily="18" charset="0"/>
                <a:cs typeface="Times New Roman" panose="02020603050405020304" pitchFamily="18" charset="0"/>
              </a:rPr>
              <a:t> key factors influencing traffic flow and delays during peak and off-peak hours.</a:t>
            </a: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Develop</a:t>
            </a:r>
            <a:r>
              <a:rPr lang="en-US" sz="1400" dirty="0">
                <a:latin typeface="Times New Roman" panose="02020603050405020304" pitchFamily="18" charset="0"/>
                <a:cs typeface="Times New Roman" panose="02020603050405020304" pitchFamily="18" charset="0"/>
              </a:rPr>
              <a:t> an optimization model using data-driven and intelligent algorithms (e.g., machine learning, metaheuristics).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338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98F81-4165-263F-072E-F0B0AA61BEA9}"/>
              </a:ext>
            </a:extLst>
          </p:cNvPr>
          <p:cNvSpPr>
            <a:spLocks noGrp="1"/>
          </p:cNvSpPr>
          <p:nvPr>
            <p:ph type="title"/>
          </p:nvPr>
        </p:nvSpPr>
        <p:spPr>
          <a:xfrm>
            <a:off x="540903" y="503238"/>
            <a:ext cx="9692640" cy="1325562"/>
          </a:xfrm>
        </p:spPr>
        <p:txBody>
          <a:bodyPr/>
          <a:lstStyle/>
          <a:p>
            <a:pPr algn="ctr"/>
            <a:r>
              <a:rPr lang="en-GB" sz="4400" b="1" kern="100" dirty="0">
                <a:solidFill>
                  <a:srgbClr val="00206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Research Questions</a:t>
            </a:r>
            <a:br>
              <a:rPr lang="en-IN" sz="5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2B6FD2-8725-525B-1955-268FCFC562D4}"/>
              </a:ext>
            </a:extLst>
          </p:cNvPr>
          <p:cNvSpPr>
            <a:spLocks noGrp="1"/>
          </p:cNvSpPr>
          <p:nvPr>
            <p:ph idx="1"/>
          </p:nvPr>
        </p:nvSpPr>
        <p:spPr>
          <a:xfrm>
            <a:off x="848633" y="1661746"/>
            <a:ext cx="9869190" cy="4351337"/>
          </a:xfrm>
        </p:spPr>
        <p:txBody>
          <a:bodyPr>
            <a:normAutofit/>
          </a:bodyPr>
          <a:lstStyle/>
          <a:p>
            <a:pPr>
              <a:lnSpc>
                <a:spcPct val="107000"/>
              </a:lnSpc>
              <a:spcAft>
                <a:spcPts val="800"/>
              </a:spcAft>
              <a:buNone/>
            </a:pPr>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The optimization of traffic light timings at intersections within urban areas involves critical concerns regarding traffic efficiency, flexibility, and sustainability. Thus, to form the basis of such an investigation, the following  sets of research questions:</a:t>
            </a:r>
          </a:p>
          <a:p>
            <a:pPr>
              <a:lnSpc>
                <a:spcPct val="107000"/>
              </a:lnSpc>
              <a:spcAft>
                <a:spcPts val="800"/>
              </a:spcAft>
              <a:buNone/>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RQ.1 How would be optimizing traffic signal timings affect the reduction of vehicle delays and urban intersection congestion vehicles?</a:t>
            </a:r>
            <a:endParaRPr lang="en-IN" sz="20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RQ.2 What optimization techniques machine learning, play best with dynamic traffic signal control?</a:t>
            </a: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924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3AE0F-B27F-0664-65D5-0C4A62ECBC29}"/>
              </a:ext>
            </a:extLst>
          </p:cNvPr>
          <p:cNvSpPr>
            <a:spLocks noGrp="1"/>
          </p:cNvSpPr>
          <p:nvPr>
            <p:ph type="title"/>
          </p:nvPr>
        </p:nvSpPr>
        <p:spPr>
          <a:xfrm>
            <a:off x="488149" y="-12321"/>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Literature review</a:t>
            </a:r>
          </a:p>
        </p:txBody>
      </p:sp>
      <p:graphicFrame>
        <p:nvGraphicFramePr>
          <p:cNvPr id="4" name="Content Placeholder 3">
            <a:extLst>
              <a:ext uri="{FF2B5EF4-FFF2-40B4-BE49-F238E27FC236}">
                <a16:creationId xmlns:a16="http://schemas.microsoft.com/office/drawing/2014/main" id="{034F3552-4F06-4921-79EE-BA981E7DED08}"/>
              </a:ext>
            </a:extLst>
          </p:cNvPr>
          <p:cNvGraphicFramePr>
            <a:graphicFrameLocks noGrp="1"/>
          </p:cNvGraphicFramePr>
          <p:nvPr>
            <p:ph idx="1"/>
            <p:extLst>
              <p:ext uri="{D42A27DB-BD31-4B8C-83A1-F6EECF244321}">
                <p14:modId xmlns:p14="http://schemas.microsoft.com/office/powerpoint/2010/main" val="2471662396"/>
              </p:ext>
            </p:extLst>
          </p:nvPr>
        </p:nvGraphicFramePr>
        <p:xfrm>
          <a:off x="328246" y="1828866"/>
          <a:ext cx="10515600" cy="3715893"/>
        </p:xfrm>
        <a:graphic>
          <a:graphicData uri="http://schemas.openxmlformats.org/drawingml/2006/table">
            <a:tbl>
              <a:tblPr firstRow="1" firstCol="1" bandRow="1">
                <a:tableStyleId>{5C22544A-7EE6-4342-B048-85BDC9FD1C3A}</a:tableStyleId>
              </a:tblPr>
              <a:tblGrid>
                <a:gridCol w="980768">
                  <a:extLst>
                    <a:ext uri="{9D8B030D-6E8A-4147-A177-3AD203B41FA5}">
                      <a16:colId xmlns:a16="http://schemas.microsoft.com/office/drawing/2014/main" val="2010745421"/>
                    </a:ext>
                  </a:extLst>
                </a:gridCol>
                <a:gridCol w="2379406">
                  <a:extLst>
                    <a:ext uri="{9D8B030D-6E8A-4147-A177-3AD203B41FA5}">
                      <a16:colId xmlns:a16="http://schemas.microsoft.com/office/drawing/2014/main" val="3698078193"/>
                    </a:ext>
                  </a:extLst>
                </a:gridCol>
                <a:gridCol w="2949186">
                  <a:extLst>
                    <a:ext uri="{9D8B030D-6E8A-4147-A177-3AD203B41FA5}">
                      <a16:colId xmlns:a16="http://schemas.microsoft.com/office/drawing/2014/main" val="2541192104"/>
                    </a:ext>
                  </a:extLst>
                </a:gridCol>
                <a:gridCol w="2103120">
                  <a:extLst>
                    <a:ext uri="{9D8B030D-6E8A-4147-A177-3AD203B41FA5}">
                      <a16:colId xmlns:a16="http://schemas.microsoft.com/office/drawing/2014/main" val="1967159276"/>
                    </a:ext>
                  </a:extLst>
                </a:gridCol>
                <a:gridCol w="2103120">
                  <a:extLst>
                    <a:ext uri="{9D8B030D-6E8A-4147-A177-3AD203B41FA5}">
                      <a16:colId xmlns:a16="http://schemas.microsoft.com/office/drawing/2014/main" val="1896709173"/>
                    </a:ext>
                  </a:extLst>
                </a:gridCol>
              </a:tblGrid>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Ref</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Focus Area</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Methodology / Algorithm</a:t>
                      </a:r>
                      <a:endParaRPr lang="en-IN"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Simulation Tool</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Key Outcomes / Contributions</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7403047"/>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Multi-objective signal optimization</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Genetic Algorithm, Pareto optimization</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General, Cell Transmission Model</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Highlights spillover prevention, scalability challenges</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75740921"/>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[2]</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Real-time signal optimization</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Swarm Intelligence Algorithm</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MATLAB</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Delay ↓10.25%, Stops ↓24.55%, Capacity ↑3.56%</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76839532"/>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[3]</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Expressway off-ramp signal timing</a:t>
                      </a:r>
                      <a:endParaRPr lang="en-IN"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Improved Genetic Algorithm</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VISSIM, MATLAB</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Stops ↓29.0%, Delay ↓27.8%, Queues ↓23.7%</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3812853"/>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[4]</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Urban trunk line traffic</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FASM-MDEA (fuzzy + MDEA)</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Simulation-based</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Reduced congestion, coordinated signal control</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05273110"/>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[5]</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Mixed traffic (vehicles, pedestrians)</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Improved PSO</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Not specified</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Delay and stops ↓, Capacity ↑</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78217206"/>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[6]</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Large-scale network control</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Multi-agent system, mathematical programming</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MATLAB, VISSIM</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Network oversaturation prevented, improved speed</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7094040"/>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[7]</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Connected vehicles optimization</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Enumeration &amp; Pseudospectra methods</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Simulation-based</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Travel time ↓, Fuel economy ↑</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3497369"/>
                  </a:ext>
                </a:extLst>
              </a:tr>
              <a:tr h="0">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[8]</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Coordinated intersections</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Real-time adaptive model</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Case study (Bari, Italy)</a:t>
                      </a:r>
                      <a:endParaRPr lang="en-IN"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Queues ↓, traffic flow ↑</a:t>
                      </a:r>
                      <a:endParaRPr lang="en-IN"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915630"/>
                  </a:ext>
                </a:extLst>
              </a:tr>
            </a:tbl>
          </a:graphicData>
        </a:graphic>
      </p:graphicFrame>
    </p:spTree>
    <p:extLst>
      <p:ext uri="{BB962C8B-B14F-4D97-AF65-F5344CB8AC3E}">
        <p14:creationId xmlns:p14="http://schemas.microsoft.com/office/powerpoint/2010/main" val="3140281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C45A0FF-FE0F-4F81-904C-F5B83DA60B00}"/>
              </a:ext>
            </a:extLst>
          </p:cNvPr>
          <p:cNvGraphicFramePr>
            <a:graphicFrameLocks noGrp="1"/>
          </p:cNvGraphicFramePr>
          <p:nvPr>
            <p:ph idx="1"/>
            <p:extLst>
              <p:ext uri="{D42A27DB-BD31-4B8C-83A1-F6EECF244321}">
                <p14:modId xmlns:p14="http://schemas.microsoft.com/office/powerpoint/2010/main" val="2643783924"/>
              </p:ext>
            </p:extLst>
          </p:nvPr>
        </p:nvGraphicFramePr>
        <p:xfrm>
          <a:off x="545123" y="378551"/>
          <a:ext cx="10498016" cy="6163577"/>
        </p:xfrm>
        <a:graphic>
          <a:graphicData uri="http://schemas.openxmlformats.org/drawingml/2006/table">
            <a:tbl>
              <a:tblPr firstRow="1" firstCol="1" bandRow="1">
                <a:tableStyleId>{5C22544A-7EE6-4342-B048-85BDC9FD1C3A}</a:tableStyleId>
              </a:tblPr>
              <a:tblGrid>
                <a:gridCol w="904040">
                  <a:extLst>
                    <a:ext uri="{9D8B030D-6E8A-4147-A177-3AD203B41FA5}">
                      <a16:colId xmlns:a16="http://schemas.microsoft.com/office/drawing/2014/main" val="1141185949"/>
                    </a:ext>
                  </a:extLst>
                </a:gridCol>
                <a:gridCol w="3231199">
                  <a:extLst>
                    <a:ext uri="{9D8B030D-6E8A-4147-A177-3AD203B41FA5}">
                      <a16:colId xmlns:a16="http://schemas.microsoft.com/office/drawing/2014/main" val="2554751161"/>
                    </a:ext>
                  </a:extLst>
                </a:gridCol>
                <a:gridCol w="2067620">
                  <a:extLst>
                    <a:ext uri="{9D8B030D-6E8A-4147-A177-3AD203B41FA5}">
                      <a16:colId xmlns:a16="http://schemas.microsoft.com/office/drawing/2014/main" val="175631428"/>
                    </a:ext>
                  </a:extLst>
                </a:gridCol>
                <a:gridCol w="2067620">
                  <a:extLst>
                    <a:ext uri="{9D8B030D-6E8A-4147-A177-3AD203B41FA5}">
                      <a16:colId xmlns:a16="http://schemas.microsoft.com/office/drawing/2014/main" val="2242388286"/>
                    </a:ext>
                  </a:extLst>
                </a:gridCol>
                <a:gridCol w="2227537">
                  <a:extLst>
                    <a:ext uri="{9D8B030D-6E8A-4147-A177-3AD203B41FA5}">
                      <a16:colId xmlns:a16="http://schemas.microsoft.com/office/drawing/2014/main" val="4002295899"/>
                    </a:ext>
                  </a:extLst>
                </a:gridCol>
              </a:tblGrid>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Oversaturated urban networks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Custom queue balancing algorithm</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Not specified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Higher outflow, delay ↓, scalable approach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2389176637"/>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Isolated intersection optimization</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GA + PSO hybrid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Traffic simulation tool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Traffic efficiency ↑, emissions ↓</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1121545344"/>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CAV trajectory + signal optimization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Adaptive phasing &amp; trajectory control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Closed track simulation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Speed ↑9%, Fuel ↓17-21%</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2313453220"/>
                  </a:ext>
                </a:extLst>
              </a:tr>
              <a:tr h="487942">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[12]</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Eco-efficient signal optimization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Simheuristic: SUMO + GA</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SUMO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CO ↓4.97%, NOx ↓2.5%, PMx ↓3.83%</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3156395507"/>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Fuel-optimal trajectories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Eco-driving model + SPaT data</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INTEGRATION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Fuel ↓13.8%, scalable system</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1269325990"/>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[14]</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Signal cycle optimization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Multi-objective fixed-step search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Real-world data</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Delay ↓, capacity ↑</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2985108922"/>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[15]</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Adaptive network-wide control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MIMO model + Adaptive LQR</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35-intersection simulation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Delay ↓, energy use ↓</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2141296202"/>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[16]</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Intersection efficiency with VANET</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Ant Colony Optimization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Simulations (not named)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CO₂, noise, fuel ↓ in dense traffic</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3480698242"/>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[17]</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Fuzzy control for grouped signals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Distributed fuzzy + Simulated Annealing</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Simulation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Better flow coordination, success index ↑</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2165089560"/>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[18]</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Multi-intersection congestion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Enhanced PSO + statistical model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Local data-based simulation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Queues ↓, better flow balancing</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316263"/>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[19]</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Multi-intersection optimization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Deep Reinforcement Learning (Graph Conv. Net)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SUMO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Delay ↓, model outperforms others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1880613071"/>
                  </a:ext>
                </a:extLst>
              </a:tr>
              <a:tr h="487942">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[20]</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Urban congestion optimization</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Simulated Annealing + PSO (SA-PSO)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a:effectLst/>
                          <a:latin typeface="Times New Roman" panose="02020603050405020304" pitchFamily="18" charset="0"/>
                          <a:cs typeface="Times New Roman" panose="02020603050405020304" pitchFamily="18" charset="0"/>
                        </a:rPr>
                        <a:t>9-intersection network</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tc>
                  <a:txBody>
                    <a:bodyPr/>
                    <a:lstStyle/>
                    <a:p>
                      <a:pPr algn="just">
                        <a:lnSpc>
                          <a:spcPct val="150000"/>
                        </a:lnSpc>
                        <a:spcAft>
                          <a:spcPts val="800"/>
                        </a:spcAft>
                        <a:buNone/>
                      </a:pPr>
                      <a:r>
                        <a:rPr lang="en-IN" sz="1200" kern="100" dirty="0">
                          <a:effectLst/>
                          <a:latin typeface="Times New Roman" panose="02020603050405020304" pitchFamily="18" charset="0"/>
                          <a:cs typeface="Times New Roman" panose="02020603050405020304" pitchFamily="18" charset="0"/>
                        </a:rPr>
                        <a:t>Delay ↓41%, Stop rate ↓30.6%</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117" marR="8117" marT="8117" marB="8117" anchor="ctr"/>
                </a:tc>
                <a:extLst>
                  <a:ext uri="{0D108BD9-81ED-4DB2-BD59-A6C34878D82A}">
                    <a16:rowId xmlns:a16="http://schemas.microsoft.com/office/drawing/2014/main" val="1082381816"/>
                  </a:ext>
                </a:extLst>
              </a:tr>
            </a:tbl>
          </a:graphicData>
        </a:graphic>
      </p:graphicFrame>
    </p:spTree>
    <p:extLst>
      <p:ext uri="{BB962C8B-B14F-4D97-AF65-F5344CB8AC3E}">
        <p14:creationId xmlns:p14="http://schemas.microsoft.com/office/powerpoint/2010/main" val="2268412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67E3-2295-631E-896D-9DEFE1F13D42}"/>
              </a:ext>
            </a:extLst>
          </p:cNvPr>
          <p:cNvSpPr>
            <a:spLocks noGrp="1"/>
          </p:cNvSpPr>
          <p:nvPr>
            <p:ph type="title"/>
          </p:nvPr>
        </p:nvSpPr>
        <p:spPr>
          <a:xfrm>
            <a:off x="549695" y="260252"/>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E33437F8-213B-B95C-DA69-C70A390ED0BF}"/>
              </a:ext>
            </a:extLst>
          </p:cNvPr>
          <p:cNvSpPr>
            <a:spLocks noGrp="1"/>
          </p:cNvSpPr>
          <p:nvPr>
            <p:ph idx="1"/>
          </p:nvPr>
        </p:nvSpPr>
        <p:spPr/>
        <p:txBody>
          <a:bodyPr>
            <a:normAutofit fontScale="77500" lnSpcReduction="20000"/>
          </a:bodyPr>
          <a:lstStyle/>
          <a:p>
            <a:pPr>
              <a:buNone/>
            </a:pPr>
            <a:r>
              <a:rPr lang="en-US" b="1" dirty="0"/>
              <a:t>1. </a:t>
            </a:r>
            <a:r>
              <a:rPr lang="en-US" b="1" dirty="0">
                <a:latin typeface="Times New Roman" panose="02020603050405020304" pitchFamily="18" charset="0"/>
                <a:cs typeface="Times New Roman" panose="02020603050405020304" pitchFamily="18" charset="0"/>
              </a:rPr>
              <a:t>Data Collection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step, Location, and traffic flow data collected from urban intersections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sensors, cameras, or open-source datasets</a:t>
            </a:r>
          </a:p>
          <a:p>
            <a:pPr>
              <a:buNone/>
            </a:pPr>
            <a:r>
              <a:rPr lang="en-US" b="1" dirty="0">
                <a:latin typeface="Times New Roman" panose="02020603050405020304" pitchFamily="18" charset="0"/>
                <a:cs typeface="Times New Roman" panose="02020603050405020304" pitchFamily="18" charset="0"/>
              </a:rPr>
              <a:t>2. Traffic Pattern Analysis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peak/off-peak trends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queue lengths, delays, and saturation flow rates</a:t>
            </a:r>
          </a:p>
          <a:p>
            <a:pPr>
              <a:buNone/>
            </a:pPr>
            <a:r>
              <a:rPr lang="en-US" b="1" dirty="0">
                <a:latin typeface="Times New Roman" panose="02020603050405020304" pitchFamily="18" charset="0"/>
                <a:cs typeface="Times New Roman" panose="02020603050405020304" pitchFamily="18" charset="0"/>
              </a:rPr>
              <a:t>3. Model Development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Formulation of optimization problem (e.g., minimize total delay or queue length)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algorithms like Machine Learning algorithms and deep learning algorithms.</a:t>
            </a:r>
          </a:p>
          <a:p>
            <a:pPr>
              <a:buNone/>
            </a:pPr>
            <a:r>
              <a:rPr lang="en-US" b="1" dirty="0">
                <a:latin typeface="Times New Roman" panose="02020603050405020304" pitchFamily="18" charset="0"/>
                <a:cs typeface="Times New Roman" panose="02020603050405020304" pitchFamily="18" charset="0"/>
              </a:rPr>
              <a:t>4.  Evaluation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 performance metrics: average delay, travel time, fuel usage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Validate results against real or historical data</a:t>
            </a:r>
          </a:p>
          <a:p>
            <a:endParaRPr lang="en-IN" dirty="0"/>
          </a:p>
        </p:txBody>
      </p:sp>
    </p:spTree>
    <p:extLst>
      <p:ext uri="{BB962C8B-B14F-4D97-AF65-F5344CB8AC3E}">
        <p14:creationId xmlns:p14="http://schemas.microsoft.com/office/powerpoint/2010/main" val="774322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CE31-6680-87DB-C83C-1C96E14CCD65}"/>
              </a:ext>
            </a:extLst>
          </p:cNvPr>
          <p:cNvSpPr>
            <a:spLocks noGrp="1"/>
          </p:cNvSpPr>
          <p:nvPr>
            <p:ph type="title"/>
          </p:nvPr>
        </p:nvSpPr>
        <p:spPr>
          <a:xfrm>
            <a:off x="268341" y="198706"/>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Methodology Modelling</a:t>
            </a:r>
          </a:p>
        </p:txBody>
      </p:sp>
      <p:sp>
        <p:nvSpPr>
          <p:cNvPr id="3" name="Content Placeholder 2">
            <a:extLst>
              <a:ext uri="{FF2B5EF4-FFF2-40B4-BE49-F238E27FC236}">
                <a16:creationId xmlns:a16="http://schemas.microsoft.com/office/drawing/2014/main" id="{3B140ED2-6EA9-2296-DE9B-C81F79E1FDEF}"/>
              </a:ext>
            </a:extLst>
          </p:cNvPr>
          <p:cNvSpPr>
            <a:spLocks noGrp="1"/>
          </p:cNvSpPr>
          <p:nvPr>
            <p:ph idx="1"/>
          </p:nvPr>
        </p:nvSpPr>
        <p:spPr/>
        <p:txBody>
          <a:bodyPr>
            <a:normAutofit/>
          </a:bodyPr>
          <a:lstStyle/>
          <a:p>
            <a:pPr>
              <a:buNone/>
            </a:pPr>
            <a:r>
              <a:rPr lang="en-US" sz="1600" b="1" dirty="0">
                <a:latin typeface="Times New Roman" panose="02020603050405020304" pitchFamily="18" charset="0"/>
                <a:cs typeface="Times New Roman" panose="02020603050405020304" pitchFamily="18" charset="0"/>
              </a:rPr>
              <a:t>1</a:t>
            </a:r>
            <a:r>
              <a:rPr lang="en-US" sz="1400" b="1" dirty="0">
                <a:latin typeface="Times New Roman" panose="02020603050405020304" pitchFamily="18" charset="0"/>
                <a:cs typeface="Times New Roman" panose="02020603050405020304" pitchFamily="18" charset="0"/>
              </a:rPr>
              <a:t>. Data Preprocessing</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Cleaning and normalization of traffic signal and vehicle flow data</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Feature engineering: Time step, Location, and traffic flow data </a:t>
            </a:r>
          </a:p>
          <a:p>
            <a:pPr>
              <a:buNone/>
            </a:pPr>
            <a:r>
              <a:rPr lang="en-US" sz="1400" b="1" dirty="0">
                <a:latin typeface="Times New Roman" panose="02020603050405020304" pitchFamily="18" charset="0"/>
                <a:cs typeface="Times New Roman" panose="02020603050405020304" pitchFamily="18" charset="0"/>
              </a:rPr>
              <a:t>2. Model Selection</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Random Forest Regressor (RFR):</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Ensemble-based model for handling non-linear traffic patterns and predicting signal delay times</a:t>
            </a:r>
          </a:p>
          <a:p>
            <a:pPr>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XGBoost</a:t>
            </a:r>
            <a:r>
              <a:rPr lang="en-US" sz="1400" b="1" dirty="0">
                <a:latin typeface="Times New Roman" panose="02020603050405020304" pitchFamily="18" charset="0"/>
                <a:cs typeface="Times New Roman" panose="02020603050405020304" pitchFamily="18" charset="0"/>
              </a:rPr>
              <a:t> Regressor (XGBR):</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Gradient boosting framework for accurate traffic flow prediction with feature importance analysis</a:t>
            </a: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Long Short-Term Memory (LSTM):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deep learning model designed to capture temporal dependencies and trends in sequential traffic data</a:t>
            </a: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Gated Recurrent Unit (GRU):</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Lightweight alternative to LSTM for forecasting traffic signal metrics with reduced computational complexity</a:t>
            </a:r>
          </a:p>
          <a:p>
            <a:endParaRPr lang="en-IN" dirty="0"/>
          </a:p>
        </p:txBody>
      </p:sp>
    </p:spTree>
    <p:extLst>
      <p:ext uri="{BB962C8B-B14F-4D97-AF65-F5344CB8AC3E}">
        <p14:creationId xmlns:p14="http://schemas.microsoft.com/office/powerpoint/2010/main" val="454206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38F4-302F-6447-CE53-43989CA4D5AF}"/>
              </a:ext>
            </a:extLst>
          </p:cNvPr>
          <p:cNvSpPr>
            <a:spLocks noGrp="1"/>
          </p:cNvSpPr>
          <p:nvPr>
            <p:ph type="title"/>
          </p:nvPr>
        </p:nvSpPr>
        <p:spPr>
          <a:xfrm>
            <a:off x="365057" y="233875"/>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Model evaluation</a:t>
            </a:r>
            <a:r>
              <a:rPr lang="en-IN" dirty="0"/>
              <a:t>	</a:t>
            </a:r>
          </a:p>
        </p:txBody>
      </p:sp>
      <p:sp>
        <p:nvSpPr>
          <p:cNvPr id="3" name="Content Placeholder 2">
            <a:extLst>
              <a:ext uri="{FF2B5EF4-FFF2-40B4-BE49-F238E27FC236}">
                <a16:creationId xmlns:a16="http://schemas.microsoft.com/office/drawing/2014/main" id="{7E2EF8AD-35AB-892D-A844-E60F96EBAFF1}"/>
              </a:ext>
            </a:extLst>
          </p:cNvPr>
          <p:cNvSpPr>
            <a:spLocks noGrp="1"/>
          </p:cNvSpPr>
          <p:nvPr>
            <p:ph idx="1"/>
          </p:nvPr>
        </p:nvSpPr>
        <p:spPr/>
        <p:txBody>
          <a:bodyPr/>
          <a:lstStyle/>
          <a:p>
            <a:pPr>
              <a:buNone/>
            </a:pPr>
            <a:r>
              <a:rPr lang="en-US" sz="1400" b="1" dirty="0">
                <a:latin typeface="Times New Roman" panose="02020603050405020304" pitchFamily="18" charset="0"/>
                <a:cs typeface="Times New Roman" panose="02020603050405020304" pitchFamily="18" charset="0"/>
              </a:rPr>
              <a:t>Training and Validation</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Split dataset into training and testing sets</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Use cross-validation to evaluate model performance</a:t>
            </a: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Metrics: RMSE, R² Score</a:t>
            </a:r>
          </a:p>
          <a:p>
            <a:endParaRPr lang="en-IN" dirty="0"/>
          </a:p>
        </p:txBody>
      </p:sp>
    </p:spTree>
    <p:extLst>
      <p:ext uri="{BB962C8B-B14F-4D97-AF65-F5344CB8AC3E}">
        <p14:creationId xmlns:p14="http://schemas.microsoft.com/office/powerpoint/2010/main" val="184843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6A11E-694F-4CAB-DA05-1806BCE4CA69}"/>
              </a:ext>
            </a:extLst>
          </p:cNvPr>
          <p:cNvSpPr>
            <a:spLocks noGrp="1"/>
          </p:cNvSpPr>
          <p:nvPr>
            <p:ph type="title"/>
          </p:nvPr>
        </p:nvSpPr>
        <p:spPr>
          <a:xfrm>
            <a:off x="590257" y="726809"/>
            <a:ext cx="9692640" cy="1325562"/>
          </a:xfrm>
        </p:spPr>
        <p:txBody>
          <a:bodyPr/>
          <a:lstStyle/>
          <a:p>
            <a:pPr algn="ctr"/>
            <a:r>
              <a:rPr kumimoji="0" lang="en-US" altLang="en-US" sz="4400" b="1" i="0" u="none" strike="noStrike" cap="none" normalizeH="0" baseline="0" dirty="0">
                <a:ln>
                  <a:noFill/>
                </a:ln>
                <a:solidFill>
                  <a:srgbClr val="002060"/>
                </a:solidFill>
                <a:effectLst/>
                <a:latin typeface="Times New Roman" panose="02020603050405020304" pitchFamily="18" charset="0"/>
                <a:ea typeface="Aptos" panose="020B0004020202020204" pitchFamily="34" charset="0"/>
                <a:cs typeface="Times New Roman" panose="02020603050405020304" pitchFamily="18" charset="0"/>
              </a:rPr>
              <a:t> Model Performance Overview</a:t>
            </a:r>
            <a:br>
              <a:rPr kumimoji="0" lang="en-US" altLang="en-US" sz="2400" b="0" i="0" u="none" strike="noStrike" cap="none" normalizeH="0" baseline="0" dirty="0">
                <a:ln>
                  <a:noFill/>
                </a:ln>
                <a:solidFill>
                  <a:schemeClr val="tx1"/>
                </a:solidFill>
                <a:effectLst/>
              </a:rPr>
            </a:br>
            <a:endParaRPr lang="en-IN" dirty="0"/>
          </a:p>
        </p:txBody>
      </p:sp>
      <p:graphicFrame>
        <p:nvGraphicFramePr>
          <p:cNvPr id="4" name="Content Placeholder 3">
            <a:extLst>
              <a:ext uri="{FF2B5EF4-FFF2-40B4-BE49-F238E27FC236}">
                <a16:creationId xmlns:a16="http://schemas.microsoft.com/office/drawing/2014/main" id="{6745D996-15AB-AB5E-A38A-0186D9F645A9}"/>
              </a:ext>
            </a:extLst>
          </p:cNvPr>
          <p:cNvGraphicFramePr>
            <a:graphicFrameLocks noGrp="1"/>
          </p:cNvGraphicFramePr>
          <p:nvPr>
            <p:ph idx="1"/>
            <p:extLst>
              <p:ext uri="{D42A27DB-BD31-4B8C-83A1-F6EECF244321}">
                <p14:modId xmlns:p14="http://schemas.microsoft.com/office/powerpoint/2010/main" val="2576567650"/>
              </p:ext>
            </p:extLst>
          </p:nvPr>
        </p:nvGraphicFramePr>
        <p:xfrm>
          <a:off x="1391920" y="2817613"/>
          <a:ext cx="8805295" cy="2871988"/>
        </p:xfrm>
        <a:graphic>
          <a:graphicData uri="http://schemas.openxmlformats.org/drawingml/2006/table">
            <a:tbl>
              <a:tblPr firstRow="1" firstCol="1" bandRow="1">
                <a:tableStyleId>{5C22544A-7EE6-4342-B048-85BDC9FD1C3A}</a:tableStyleId>
              </a:tblPr>
              <a:tblGrid>
                <a:gridCol w="1388110">
                  <a:extLst>
                    <a:ext uri="{9D8B030D-6E8A-4147-A177-3AD203B41FA5}">
                      <a16:colId xmlns:a16="http://schemas.microsoft.com/office/drawing/2014/main" val="1720706610"/>
                    </a:ext>
                  </a:extLst>
                </a:gridCol>
                <a:gridCol w="1195332">
                  <a:extLst>
                    <a:ext uri="{9D8B030D-6E8A-4147-A177-3AD203B41FA5}">
                      <a16:colId xmlns:a16="http://schemas.microsoft.com/office/drawing/2014/main" val="4039717028"/>
                    </a:ext>
                  </a:extLst>
                </a:gridCol>
                <a:gridCol w="1052300">
                  <a:extLst>
                    <a:ext uri="{9D8B030D-6E8A-4147-A177-3AD203B41FA5}">
                      <a16:colId xmlns:a16="http://schemas.microsoft.com/office/drawing/2014/main" val="3826633603"/>
                    </a:ext>
                  </a:extLst>
                </a:gridCol>
                <a:gridCol w="5169553">
                  <a:extLst>
                    <a:ext uri="{9D8B030D-6E8A-4147-A177-3AD203B41FA5}">
                      <a16:colId xmlns:a16="http://schemas.microsoft.com/office/drawing/2014/main" val="1725859479"/>
                    </a:ext>
                  </a:extLst>
                </a:gridCol>
              </a:tblGrid>
              <a:tr h="394836">
                <a:tc>
                  <a:txBody>
                    <a:bodyPr/>
                    <a:lstStyle/>
                    <a:p>
                      <a:pPr algn="ctr">
                        <a:lnSpc>
                          <a:spcPct val="150000"/>
                        </a:lnSpc>
                        <a:spcAft>
                          <a:spcPts val="800"/>
                        </a:spcAft>
                        <a:buNone/>
                      </a:pPr>
                      <a:r>
                        <a:rPr lang="en-IN" sz="1200" kern="100" dirty="0">
                          <a:effectLst/>
                        </a:rPr>
                        <a:t>Model</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IN" sz="1400" b="0" i="0" kern="1200" dirty="0">
                          <a:solidFill>
                            <a:schemeClr val="lt1"/>
                          </a:solidFill>
                          <a:effectLst/>
                          <a:latin typeface="+mn-lt"/>
                          <a:ea typeface="+mn-ea"/>
                          <a:cs typeface="+mn-cs"/>
                        </a:rPr>
                        <a:t>R2 Score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buNone/>
                      </a:pPr>
                      <a:r>
                        <a:rPr lang="en-IN" sz="1400" b="0" i="0" kern="1200" dirty="0">
                          <a:solidFill>
                            <a:schemeClr val="lt1"/>
                          </a:solidFill>
                          <a:effectLst/>
                          <a:latin typeface="+mn-lt"/>
                          <a:ea typeface="+mn-ea"/>
                          <a:cs typeface="+mn-cs"/>
                        </a:rPr>
                        <a:t>RMSE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algn="ctr" defTabSz="914400" rtl="0" eaLnBrk="1" latinLnBrk="0" hangingPunct="1">
                        <a:lnSpc>
                          <a:spcPct val="150000"/>
                        </a:lnSpc>
                        <a:spcAft>
                          <a:spcPts val="800"/>
                        </a:spcAft>
                        <a:buNone/>
                      </a:pPr>
                      <a:r>
                        <a:rPr lang="en-IN" sz="1400" b="0" i="0" kern="1200" dirty="0">
                          <a:solidFill>
                            <a:schemeClr val="lt1"/>
                          </a:solidFill>
                          <a:effectLst/>
                          <a:latin typeface="+mn-lt"/>
                          <a:ea typeface="+mn-ea"/>
                          <a:cs typeface="+mn-cs"/>
                        </a:rPr>
                        <a:t>Remarks</a:t>
                      </a:r>
                    </a:p>
                  </a:txBody>
                  <a:tcPr marL="68580" marR="68580" marT="0" marB="0" anchor="ctr"/>
                </a:tc>
                <a:extLst>
                  <a:ext uri="{0D108BD9-81ED-4DB2-BD59-A6C34878D82A}">
                    <a16:rowId xmlns:a16="http://schemas.microsoft.com/office/drawing/2014/main" val="3739827208"/>
                  </a:ext>
                </a:extLst>
              </a:tr>
              <a:tr h="742969">
                <a:tc>
                  <a:txBody>
                    <a:bodyPr/>
                    <a:lstStyle/>
                    <a:p>
                      <a:pPr algn="just">
                        <a:lnSpc>
                          <a:spcPct val="150000"/>
                        </a:lnSpc>
                        <a:spcAft>
                          <a:spcPts val="800"/>
                        </a:spcAft>
                        <a:buNone/>
                      </a:pPr>
                      <a:r>
                        <a:rPr lang="en-IN" sz="1200" kern="100" dirty="0">
                          <a:effectLst/>
                        </a:rPr>
                        <a:t>Random Forest</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IN" sz="1400" dirty="0">
                          <a:latin typeface="Times New Roman" panose="02020603050405020304" pitchFamily="18" charset="0"/>
                          <a:cs typeface="Times New Roman" panose="02020603050405020304" pitchFamily="18" charset="0"/>
                        </a:rPr>
                        <a:t>0.9137</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0.0657</a:t>
                      </a:r>
                    </a:p>
                  </a:txBody>
                  <a:tcPr anchor="ctr"/>
                </a:tc>
                <a:tc>
                  <a:txBody>
                    <a:bodyPr/>
                    <a:lstStyle/>
                    <a:p>
                      <a:r>
                        <a:rPr lang="en-US" sz="1400" dirty="0">
                          <a:latin typeface="Times New Roman" panose="02020603050405020304" pitchFamily="18" charset="0"/>
                          <a:cs typeface="Times New Roman" panose="02020603050405020304" pitchFamily="18" charset="0"/>
                        </a:rPr>
                        <a:t>Strong performance; good trade-off between accuracy and interpretability.</a:t>
                      </a:r>
                    </a:p>
                  </a:txBody>
                  <a:tcPr anchor="ctr"/>
                </a:tc>
                <a:extLst>
                  <a:ext uri="{0D108BD9-81ED-4DB2-BD59-A6C34878D82A}">
                    <a16:rowId xmlns:a16="http://schemas.microsoft.com/office/drawing/2014/main" val="1097053686"/>
                  </a:ext>
                </a:extLst>
              </a:tr>
              <a:tr h="578061">
                <a:tc>
                  <a:txBody>
                    <a:bodyPr/>
                    <a:lstStyle/>
                    <a:p>
                      <a:pPr algn="just">
                        <a:lnSpc>
                          <a:spcPct val="150000"/>
                        </a:lnSpc>
                        <a:spcAft>
                          <a:spcPts val="800"/>
                        </a:spcAft>
                        <a:buNone/>
                      </a:pPr>
                      <a:r>
                        <a:rPr lang="en-IN" sz="1200" kern="100">
                          <a:effectLst/>
                        </a:rPr>
                        <a:t>XGBoost</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IN" sz="1400" b="1">
                          <a:latin typeface="Times New Roman" panose="02020603050405020304" pitchFamily="18" charset="0"/>
                          <a:cs typeface="Times New Roman" panose="02020603050405020304" pitchFamily="18" charset="0"/>
                        </a:rPr>
                        <a:t>0.9263</a:t>
                      </a:r>
                      <a:endParaRPr lang="en-IN" sz="140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0.0607</a:t>
                      </a:r>
                    </a:p>
                  </a:txBody>
                  <a:tcPr anchor="ctr"/>
                </a:tc>
                <a:tc>
                  <a:txBody>
                    <a:bodyPr/>
                    <a:lstStyle/>
                    <a:p>
                      <a:r>
                        <a:rPr lang="en-US" sz="1400" b="1" dirty="0">
                          <a:latin typeface="Times New Roman" panose="02020603050405020304" pitchFamily="18" charset="0"/>
                          <a:cs typeface="Times New Roman" panose="02020603050405020304" pitchFamily="18" charset="0"/>
                        </a:rPr>
                        <a:t>Best R² score</a:t>
                      </a:r>
                      <a:r>
                        <a:rPr lang="en-US" sz="1400" dirty="0">
                          <a:latin typeface="Times New Roman" panose="02020603050405020304" pitchFamily="18" charset="0"/>
                          <a:cs typeface="Times New Roman" panose="02020603050405020304" pitchFamily="18" charset="0"/>
                        </a:rPr>
                        <a:t>; excellent accuracy; ideal for production deployment.</a:t>
                      </a:r>
                    </a:p>
                  </a:txBody>
                  <a:tcPr anchor="ctr"/>
                </a:tc>
                <a:extLst>
                  <a:ext uri="{0D108BD9-81ED-4DB2-BD59-A6C34878D82A}">
                    <a16:rowId xmlns:a16="http://schemas.microsoft.com/office/drawing/2014/main" val="2786419683"/>
                  </a:ext>
                </a:extLst>
              </a:tr>
              <a:tr h="578061">
                <a:tc>
                  <a:txBody>
                    <a:bodyPr/>
                    <a:lstStyle/>
                    <a:p>
                      <a:pPr algn="just">
                        <a:lnSpc>
                          <a:spcPct val="150000"/>
                        </a:lnSpc>
                        <a:spcAft>
                          <a:spcPts val="800"/>
                        </a:spcAft>
                        <a:buNone/>
                      </a:pPr>
                      <a:r>
                        <a:rPr lang="en-IN" sz="1200" kern="100">
                          <a:effectLst/>
                        </a:rPr>
                        <a:t>LSTM</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IN" sz="1400">
                          <a:latin typeface="Times New Roman" panose="02020603050405020304" pitchFamily="18" charset="0"/>
                          <a:cs typeface="Times New Roman" panose="02020603050405020304" pitchFamily="18" charset="0"/>
                        </a:rPr>
                        <a:t>0.8902</a:t>
                      </a:r>
                    </a:p>
                  </a:txBody>
                  <a:tcPr anchor="ctr"/>
                </a:tc>
                <a:tc>
                  <a:txBody>
                    <a:bodyPr/>
                    <a:lstStyle/>
                    <a:p>
                      <a:pPr algn="ctr"/>
                      <a:r>
                        <a:rPr lang="en-IN" sz="1400" b="1" dirty="0">
                          <a:latin typeface="Times New Roman" panose="02020603050405020304" pitchFamily="18" charset="0"/>
                          <a:cs typeface="Times New Roman" panose="02020603050405020304" pitchFamily="18" charset="0"/>
                        </a:rPr>
                        <a:t>0.0539</a:t>
                      </a:r>
                      <a:endParaRPr lang="en-IN" sz="1400" dirty="0">
                        <a:latin typeface="Times New Roman" panose="02020603050405020304" pitchFamily="18" charset="0"/>
                        <a:cs typeface="Times New Roman" panose="02020603050405020304" pitchFamily="18" charset="0"/>
                      </a:endParaRPr>
                    </a:p>
                  </a:txBody>
                  <a:tcPr anchor="ctr"/>
                </a:tc>
                <a:tc>
                  <a:txBody>
                    <a:bodyPr/>
                    <a:lstStyle/>
                    <a:p>
                      <a:r>
                        <a:rPr lang="en-US" sz="1400" b="1" dirty="0">
                          <a:latin typeface="Times New Roman" panose="02020603050405020304" pitchFamily="18" charset="0"/>
                          <a:cs typeface="Times New Roman" panose="02020603050405020304" pitchFamily="18" charset="0"/>
                        </a:rPr>
                        <a:t>Lowest RMSE</a:t>
                      </a:r>
                      <a:r>
                        <a:rPr lang="en-US" sz="1400" dirty="0">
                          <a:latin typeface="Times New Roman" panose="02020603050405020304" pitchFamily="18" charset="0"/>
                          <a:cs typeface="Times New Roman" panose="02020603050405020304" pitchFamily="18" charset="0"/>
                        </a:rPr>
                        <a:t>; suitable for minimizing error; slightly lower R².</a:t>
                      </a:r>
                    </a:p>
                  </a:txBody>
                  <a:tcPr anchor="ctr"/>
                </a:tc>
                <a:extLst>
                  <a:ext uri="{0D108BD9-81ED-4DB2-BD59-A6C34878D82A}">
                    <a16:rowId xmlns:a16="http://schemas.microsoft.com/office/drawing/2014/main" val="3093877644"/>
                  </a:ext>
                </a:extLst>
              </a:tr>
              <a:tr h="578061">
                <a:tc>
                  <a:txBody>
                    <a:bodyPr/>
                    <a:lstStyle/>
                    <a:p>
                      <a:pPr algn="just">
                        <a:lnSpc>
                          <a:spcPct val="150000"/>
                        </a:lnSpc>
                        <a:spcAft>
                          <a:spcPts val="800"/>
                        </a:spcAft>
                        <a:buNone/>
                      </a:pPr>
                      <a:r>
                        <a:rPr lang="en-IN" sz="1200" kern="100">
                          <a:effectLst/>
                        </a:rPr>
                        <a:t>GRU</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IN" sz="1400">
                          <a:latin typeface="Times New Roman" panose="02020603050405020304" pitchFamily="18" charset="0"/>
                          <a:cs typeface="Times New Roman" panose="02020603050405020304" pitchFamily="18" charset="0"/>
                        </a:rPr>
                        <a:t>0.8863</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0.0546</a:t>
                      </a:r>
                    </a:p>
                  </a:txBody>
                  <a:tcPr anchor="ctr"/>
                </a:tc>
                <a:tc>
                  <a:txBody>
                    <a:bodyPr/>
                    <a:lstStyle/>
                    <a:p>
                      <a:r>
                        <a:rPr lang="en-US" sz="1400" dirty="0">
                          <a:latin typeface="Times New Roman" panose="02020603050405020304" pitchFamily="18" charset="0"/>
                          <a:cs typeface="Times New Roman" panose="02020603050405020304" pitchFamily="18" charset="0"/>
                        </a:rPr>
                        <a:t>Close to LSTM; slightly lower performance in both metrics.</a:t>
                      </a:r>
                    </a:p>
                  </a:txBody>
                  <a:tcPr anchor="ctr"/>
                </a:tc>
                <a:extLst>
                  <a:ext uri="{0D108BD9-81ED-4DB2-BD59-A6C34878D82A}">
                    <a16:rowId xmlns:a16="http://schemas.microsoft.com/office/drawing/2014/main" val="4009484073"/>
                  </a:ext>
                </a:extLst>
              </a:tr>
            </a:tbl>
          </a:graphicData>
        </a:graphic>
      </p:graphicFrame>
      <p:sp>
        <p:nvSpPr>
          <p:cNvPr id="7" name="TextBox 6">
            <a:extLst>
              <a:ext uri="{FF2B5EF4-FFF2-40B4-BE49-F238E27FC236}">
                <a16:creationId xmlns:a16="http://schemas.microsoft.com/office/drawing/2014/main" id="{89737281-AAEB-2A1C-EE83-D68C2BEDEC43}"/>
              </a:ext>
            </a:extLst>
          </p:cNvPr>
          <p:cNvSpPr txBox="1"/>
          <p:nvPr/>
        </p:nvSpPr>
        <p:spPr>
          <a:xfrm>
            <a:off x="722950" y="1953962"/>
            <a:ext cx="10158409" cy="523220"/>
          </a:xfrm>
          <a:prstGeom prst="rect">
            <a:avLst/>
          </a:prstGeom>
          <a:noFill/>
        </p:spPr>
        <p:txBody>
          <a:bodyPr wrap="square">
            <a:spAutoFit/>
          </a:bodyPr>
          <a:lstStyle/>
          <a:p>
            <a:pPr algn="just" defTabSz="914400"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The models were evaluated based on the usual performance metrics, including</a:t>
            </a:r>
            <a:r>
              <a:rPr lang="en-US" altLang="en-US" sz="1400" dirty="0">
                <a:latin typeface="Times New Roman" panose="02020603050405020304" pitchFamily="18" charset="0"/>
                <a:ea typeface="Aptos" panose="020B0004020202020204" pitchFamily="34" charset="0"/>
                <a:cs typeface="Times New Roman" panose="02020603050405020304" pitchFamily="18" charset="0"/>
              </a:rPr>
              <a:t> R2 Score, RMSE</a:t>
            </a:r>
            <a:r>
              <a:rPr kumimoji="0" lang="en-US" altLang="en-US" sz="14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The following tabular format discusses the performance of each of the algorithms on the traffic dataset in predicting congestion levels.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5366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A184-41EA-8574-DB8F-980588CFA370}"/>
              </a:ext>
            </a:extLst>
          </p:cNvPr>
          <p:cNvSpPr>
            <a:spLocks noGrp="1"/>
          </p:cNvSpPr>
          <p:nvPr>
            <p:ph type="title"/>
          </p:nvPr>
        </p:nvSpPr>
        <p:spPr>
          <a:xfrm>
            <a:off x="277133" y="93199"/>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Conclusion</a:t>
            </a:r>
          </a:p>
        </p:txBody>
      </p:sp>
      <p:sp>
        <p:nvSpPr>
          <p:cNvPr id="6" name="Rectangle 2">
            <a:extLst>
              <a:ext uri="{FF2B5EF4-FFF2-40B4-BE49-F238E27FC236}">
                <a16:creationId xmlns:a16="http://schemas.microsoft.com/office/drawing/2014/main" id="{A128F856-E67A-805E-F125-FC94B9B28BE1}"/>
              </a:ext>
            </a:extLst>
          </p:cNvPr>
          <p:cNvSpPr>
            <a:spLocks noGrp="1" noChangeArrowheads="1"/>
          </p:cNvSpPr>
          <p:nvPr>
            <p:ph idx="1"/>
          </p:nvPr>
        </p:nvSpPr>
        <p:spPr bwMode="auto">
          <a:xfrm>
            <a:off x="1170623" y="1652441"/>
            <a:ext cx="860329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achieved the best overall performance with the highest R² score (0.9263) and a low RMSE (0.0607), making it the most suitable model for traffic signal optimization.</a:t>
            </a:r>
          </a:p>
          <a:p>
            <a:pPr eaLnBrk="0" fontAlgn="base" hangingPunct="0">
              <a:lnSpc>
                <a:spcPct val="100000"/>
              </a:lnSpc>
              <a:spcBef>
                <a:spcPct val="0"/>
              </a:spcBef>
              <a:spcAft>
                <a:spcPct val="0"/>
              </a:spcAft>
              <a:buClrTx/>
              <a:buSzTx/>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closely followed with an R² score of 0.9137 and RMSE of 0.0657, providing a reliable and interpretable alternative.</a:t>
            </a:r>
          </a:p>
          <a:p>
            <a:pPr eaLnBrk="0" fontAlgn="base" hangingPunct="0">
              <a:lnSpc>
                <a:spcPct val="100000"/>
              </a:lnSpc>
              <a:spcBef>
                <a:spcPct val="0"/>
              </a:spcBef>
              <a:spcAft>
                <a:spcPct val="0"/>
              </a:spcAft>
              <a:buClrTx/>
              <a:buSzTx/>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recorded the lowest RMSE (0.0539) but a slightly lower R² score (0.8902), indicating strong predictive accuracy with modest variance explanation.</a:t>
            </a:r>
          </a:p>
          <a:p>
            <a:pPr eaLnBrk="0" fontAlgn="base" hangingPunct="0">
              <a:lnSpc>
                <a:spcPct val="100000"/>
              </a:lnSpc>
              <a:spcBef>
                <a:spcPct val="0"/>
              </a:spcBef>
              <a:spcAft>
                <a:spcPct val="0"/>
              </a:spcAft>
              <a:buClrTx/>
              <a:buSzTx/>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GRU also performed well with RMSE of 0.0546 and R² score of 0.8863, making it a viable option for capturing sequential patterns in traffic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most balanced and accurate model, with Random Forest as a strong backup. LSTM and GRU remain useful for deep learning-based solutions depending on specific system requirements</a:t>
            </a:r>
          </a:p>
        </p:txBody>
      </p:sp>
    </p:spTree>
    <p:extLst>
      <p:ext uri="{BB962C8B-B14F-4D97-AF65-F5344CB8AC3E}">
        <p14:creationId xmlns:p14="http://schemas.microsoft.com/office/powerpoint/2010/main" val="360386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3C67B-E7FD-8AE0-E86C-9DDC11D5618F}"/>
              </a:ext>
            </a:extLst>
          </p:cNvPr>
          <p:cNvSpPr>
            <a:spLocks noGrp="1"/>
          </p:cNvSpPr>
          <p:nvPr>
            <p:ph type="title"/>
          </p:nvPr>
        </p:nvSpPr>
        <p:spPr>
          <a:xfrm>
            <a:off x="461772" y="198707"/>
            <a:ext cx="9692640" cy="1325562"/>
          </a:xfrm>
        </p:spPr>
        <p:txBody>
          <a:bodyPr/>
          <a:lstStyle/>
          <a:p>
            <a:pPr algn="ctr"/>
            <a:r>
              <a:rPr lang="en-IN" b="1" dirty="0">
                <a:solidFill>
                  <a:srgbClr val="002060"/>
                </a:solidFill>
                <a:latin typeface="Times New Roman" panose="02020603050405020304" pitchFamily="18" charset="0"/>
                <a:cs typeface="Times New Roman" panose="02020603050405020304" pitchFamily="18" charset="0"/>
              </a:rPr>
              <a:t>Future work</a:t>
            </a:r>
          </a:p>
        </p:txBody>
      </p:sp>
      <p:sp>
        <p:nvSpPr>
          <p:cNvPr id="6" name="Rectangle 2">
            <a:extLst>
              <a:ext uri="{FF2B5EF4-FFF2-40B4-BE49-F238E27FC236}">
                <a16:creationId xmlns:a16="http://schemas.microsoft.com/office/drawing/2014/main" id="{CFCCC33E-74BC-F963-7D85-EBD3B1E297E9}"/>
              </a:ext>
            </a:extLst>
          </p:cNvPr>
          <p:cNvSpPr txBox="1">
            <a:spLocks noChangeArrowheads="1"/>
          </p:cNvSpPr>
          <p:nvPr/>
        </p:nvSpPr>
        <p:spPr bwMode="auto">
          <a:xfrm>
            <a:off x="787401" y="1729764"/>
            <a:ext cx="1012444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eaLnBrk="0" fontAlgn="base" hangingPunct="0">
              <a:lnSpc>
                <a:spcPct val="100000"/>
              </a:lnSpc>
              <a:spcBef>
                <a:spcPct val="0"/>
              </a:spcBef>
              <a:spcAft>
                <a:spcPct val="0"/>
              </a:spcAft>
              <a:buClrTx/>
              <a:buSzTx/>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Incorporate additional features such as weather conditions, road incidents, and public events to enhance prediction accuracy.</a:t>
            </a:r>
          </a:p>
          <a:p>
            <a:pPr eaLnBrk="0" fontAlgn="base" hangingPunct="0">
              <a:lnSpc>
                <a:spcPct val="100000"/>
              </a:lnSpc>
              <a:spcBef>
                <a:spcPct val="0"/>
              </a:spcBef>
              <a:spcAft>
                <a:spcPct val="0"/>
              </a:spcAft>
              <a:buClrTx/>
              <a:buSzTx/>
              <a:buFont typeface="Wingdings" panose="05000000000000000000" pitchFamily="2" charset="2"/>
              <a:buChar char="ü"/>
            </a:pPr>
            <a:endParaRPr lang="en-US" altLang="en-US" sz="14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Implement real-time data streaming and model retraining pipelines for live traffic signal adjustment.</a:t>
            </a:r>
          </a:p>
          <a:p>
            <a:pPr eaLnBrk="0" fontAlgn="base" hangingPunct="0">
              <a:lnSpc>
                <a:spcPct val="100000"/>
              </a:lnSpc>
              <a:spcBef>
                <a:spcPct val="0"/>
              </a:spcBef>
              <a:spcAft>
                <a:spcPct val="0"/>
              </a:spcAft>
              <a:buClrTx/>
              <a:buSzTx/>
              <a:buFont typeface="Wingdings" panose="05000000000000000000" pitchFamily="2" charset="2"/>
              <a:buChar char="ü"/>
            </a:pPr>
            <a:endParaRPr lang="en-US" altLang="en-US" sz="14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Explore hybrid models that combine tree-based and deep learning approaches to leverage both interpretability and temporal pattern recognition.</a:t>
            </a:r>
          </a:p>
          <a:p>
            <a:pPr eaLnBrk="0" fontAlgn="base" hangingPunct="0">
              <a:lnSpc>
                <a:spcPct val="100000"/>
              </a:lnSpc>
              <a:spcBef>
                <a:spcPct val="0"/>
              </a:spcBef>
              <a:spcAft>
                <a:spcPct val="0"/>
              </a:spcAft>
              <a:buClrTx/>
              <a:buSzTx/>
              <a:buFont typeface="Wingdings" panose="05000000000000000000" pitchFamily="2" charset="2"/>
              <a:buChar char="ü"/>
            </a:pPr>
            <a:endParaRPr lang="en-US" altLang="en-US" sz="14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Deploy models on edge devices or cloud-based infrastructure for scalable and responsive traffic management systems.</a:t>
            </a:r>
          </a:p>
          <a:p>
            <a:pPr eaLnBrk="0" fontAlgn="base" hangingPunct="0">
              <a:lnSpc>
                <a:spcPct val="100000"/>
              </a:lnSpc>
              <a:spcBef>
                <a:spcPct val="0"/>
              </a:spcBef>
              <a:spcAft>
                <a:spcPct val="0"/>
              </a:spcAft>
              <a:buClrTx/>
              <a:buSzTx/>
              <a:buFont typeface="Wingdings" panose="05000000000000000000" pitchFamily="2" charset="2"/>
              <a:buChar char="ü"/>
            </a:pPr>
            <a:endParaRPr lang="en-US" altLang="en-US" sz="14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Evaluate model performance across multiple intersections and cities to ensure generalizability and robustness.</a:t>
            </a:r>
          </a:p>
          <a:p>
            <a:pPr eaLnBrk="0" fontAlgn="base" hangingPunct="0">
              <a:lnSpc>
                <a:spcPct val="100000"/>
              </a:lnSpc>
              <a:spcBef>
                <a:spcPct val="0"/>
              </a:spcBef>
              <a:spcAft>
                <a:spcPct val="0"/>
              </a:spcAft>
              <a:buClrTx/>
              <a:buSzTx/>
              <a:buFont typeface="Wingdings" panose="05000000000000000000" pitchFamily="2" charset="2"/>
              <a:buChar char="ü"/>
            </a:pPr>
            <a:endParaRPr lang="en-US" altLang="en-US" sz="14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Integrate reinforcement learning for dynamic traffic signal control based on predicted congestion levels.</a:t>
            </a:r>
          </a:p>
        </p:txBody>
      </p:sp>
    </p:spTree>
    <p:extLst>
      <p:ext uri="{BB962C8B-B14F-4D97-AF65-F5344CB8AC3E}">
        <p14:creationId xmlns:p14="http://schemas.microsoft.com/office/powerpoint/2010/main" val="3026128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081D-1B82-36B3-536E-B81C5FE6C271}"/>
              </a:ext>
            </a:extLst>
          </p:cNvPr>
          <p:cNvSpPr>
            <a:spLocks noGrp="1"/>
          </p:cNvSpPr>
          <p:nvPr>
            <p:ph type="title"/>
          </p:nvPr>
        </p:nvSpPr>
        <p:spPr>
          <a:xfrm>
            <a:off x="644769" y="233876"/>
            <a:ext cx="9692640" cy="1325562"/>
          </a:xfrm>
        </p:spPr>
        <p:txBody>
          <a:bodyPr/>
          <a:lstStyle/>
          <a:p>
            <a:pPr algn="ctr"/>
            <a:r>
              <a:rPr lang="en-IN" b="1" dirty="0">
                <a:solidFill>
                  <a:srgbClr val="002060"/>
                </a:solidFill>
              </a:rPr>
              <a:t>References</a:t>
            </a:r>
          </a:p>
        </p:txBody>
      </p:sp>
      <p:sp>
        <p:nvSpPr>
          <p:cNvPr id="3" name="Content Placeholder 2">
            <a:extLst>
              <a:ext uri="{FF2B5EF4-FFF2-40B4-BE49-F238E27FC236}">
                <a16:creationId xmlns:a16="http://schemas.microsoft.com/office/drawing/2014/main" id="{0E0B5973-CAB8-1D04-AAE8-3D592B909D20}"/>
              </a:ext>
            </a:extLst>
          </p:cNvPr>
          <p:cNvSpPr>
            <a:spLocks noGrp="1"/>
          </p:cNvSpPr>
          <p:nvPr>
            <p:ph idx="1"/>
          </p:nvPr>
        </p:nvSpPr>
        <p:spPr>
          <a:xfrm>
            <a:off x="644769" y="1975094"/>
            <a:ext cx="10515600" cy="4351338"/>
          </a:xfrm>
        </p:spPr>
        <p:txBody>
          <a:bodyPr>
            <a:normAutofit fontScale="55000" lnSpcReduction="20000"/>
          </a:bodyPr>
          <a:lstStyle/>
          <a:p>
            <a:pPr lvl="0" algn="just">
              <a:lnSpc>
                <a:spcPct val="150000"/>
              </a:lnSpc>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Xu,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Guilong</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Zhen Yang,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Shikun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Xie,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Shumin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Bai, and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Zishuo</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Liu. "Enhancing safety and efficiency of signal intersections: A part-time protected right-turn signal control for straight-right lane in connected environment."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Physica A: Statistical Mechanics and its Applications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(2025): 130378.</a:t>
            </a:r>
          </a:p>
          <a:p>
            <a:pPr lvl="0" algn="just">
              <a:lnSpc>
                <a:spcPct val="150000"/>
              </a:lnSpc>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Fu X, Gao H, Cai H, Wang Z, Chen W. How to Improve Urban Intelligent Traffic? A Case Study Using Traffic Signal Timing Optimization Model Based on Swarm Intelligence Algorithm.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Sensors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2021; 21(8):2631.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https://doi.org/10.3390/s21082631</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0" algn="just">
              <a:lnSpc>
                <a:spcPct val="150000"/>
              </a:lnSpc>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Liu, S., Li, Y., Qiu, Y.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et al.</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Signal Timing Optimization Algorithm for an Intersection Connected with an Urban Expressway.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Arab J Sci Eng</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45</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8667–8684 (2020).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3"/>
              </a:rPr>
              <a:t>https://doi.org/10.1007/s13369-020-04835-6</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0" algn="just">
              <a:lnSpc>
                <a:spcPct val="150000"/>
              </a:lnSpc>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H. Lin, Y. Han, W. Cai and B. Jin, "Traffic Signal Optimization Based on Fuzzy Control and Differential Evolution Algorithm," in IEEE Transactions on Intelligent Transportation Systems, vol. 24, no. 8, pp. 8555-8566, Aug. 2023,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10.1109/TITS.2022.3195221.</a:t>
            </a:r>
          </a:p>
          <a:p>
            <a:pPr lvl="0" algn="just">
              <a:lnSpc>
                <a:spcPct val="150000"/>
              </a:lnSpc>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Zhao, H., Han, G. &amp; Niu, X. The Signal Control Optimization of Road Intersections with Slow Traffic Based on Improved PSO.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Mobile </a:t>
            </a:r>
            <a:r>
              <a:rPr lang="en-IN" sz="1800" i="1" kern="100" dirty="0" err="1">
                <a:effectLst/>
                <a:latin typeface="Times New Roman" panose="02020603050405020304" pitchFamily="18" charset="0"/>
                <a:ea typeface="Aptos" panose="020B0004020202020204" pitchFamily="34" charset="0"/>
                <a:cs typeface="Times New Roman" panose="02020603050405020304" pitchFamily="18" charset="0"/>
              </a:rPr>
              <a:t>Netw</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 Appl</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25</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623–631 (2020).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4"/>
              </a:rPr>
              <a:t>https://doi.org/10.1007/s11036-019-01225-7</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0" algn="just">
              <a:lnSpc>
                <a:spcPct val="150000"/>
              </a:lnSpc>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Pavan, D. S., Ronak R. Jain, Tirthankar Karmakar, and N. Chaitra. "Density-Based Traffic Signal Control System." In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2025 International Conference on Intelligent and Innovative Technologies in Computing, Electrical and Electronics (IITCEE)</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pp. 1-6. IEEE, 2025.</a:t>
            </a:r>
          </a:p>
          <a:p>
            <a:pPr lvl="0" algn="just">
              <a:lnSpc>
                <a:spcPct val="150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B. Xu et al., "Cooperative Method of Traffic Signal Optimization and Speed Control of Connected Vehicles at Isolated Intersections," in IEEE Transactions on Intelligent Transportation Systems, vol. 20, no. 4, pp. 1390-1403, April 2019,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10.1109/TITS.2018.2849029.</a:t>
            </a:r>
          </a:p>
          <a:p>
            <a:pPr>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1149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C78999-A055-7868-2121-25428F193423}"/>
              </a:ext>
            </a:extLst>
          </p:cNvPr>
          <p:cNvSpPr>
            <a:spLocks noGrp="1"/>
          </p:cNvSpPr>
          <p:nvPr>
            <p:ph idx="1"/>
          </p:nvPr>
        </p:nvSpPr>
        <p:spPr>
          <a:xfrm>
            <a:off x="583224" y="501161"/>
            <a:ext cx="10515600" cy="4941277"/>
          </a:xfrm>
        </p:spPr>
        <p:txBody>
          <a:bodyPr>
            <a:normAutofit fontScale="25000" lnSpcReduction="20000"/>
          </a:bodyPr>
          <a:lstStyle/>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Faqir, Nada, Yassine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Ennaji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Loqman</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Chakir, and Jaouad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Boumhidi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"Hybrid CNN-LSTM and Proximal Policy Optimization Model for Traffic Light Control in a Multi-Agent Environment." </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IEEE Access</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(2025).</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Tran, Q.H., Do, V.M. &amp; Dinh, T.H. Traffic signal timing optimization for isolated urban intersections considering environmental problems and non-motorized vehicles by using constrained optimization solutions. </a:t>
            </a:r>
            <a:r>
              <a:rPr lang="en-IN" sz="3600" i="1" kern="100" dirty="0" err="1">
                <a:effectLst/>
                <a:latin typeface="Times New Roman" panose="02020603050405020304" pitchFamily="18" charset="0"/>
                <a:ea typeface="Aptos" panose="020B0004020202020204" pitchFamily="34" charset="0"/>
                <a:cs typeface="Times New Roman" panose="02020603050405020304" pitchFamily="18" charset="0"/>
              </a:rPr>
              <a:t>Innov</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3600" i="1" kern="100" dirty="0" err="1">
                <a:effectLst/>
                <a:latin typeface="Times New Roman" panose="02020603050405020304" pitchFamily="18" charset="0"/>
                <a:ea typeface="Aptos" panose="020B0004020202020204" pitchFamily="34" charset="0"/>
                <a:cs typeface="Times New Roman" panose="02020603050405020304" pitchFamily="18" charset="0"/>
              </a:rPr>
              <a:t>Infrastruct</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3600" i="1" kern="100" dirty="0" err="1">
                <a:effectLst/>
                <a:latin typeface="Times New Roman" panose="02020603050405020304" pitchFamily="18" charset="0"/>
                <a:ea typeface="Aptos" panose="020B0004020202020204" pitchFamily="34" charset="0"/>
                <a:cs typeface="Times New Roman" panose="02020603050405020304" pitchFamily="18" charset="0"/>
              </a:rPr>
              <a:t>Solut</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3600" b="1" kern="100" dirty="0">
                <a:effectLst/>
                <a:latin typeface="Times New Roman" panose="02020603050405020304" pitchFamily="18" charset="0"/>
                <a:ea typeface="Aptos" panose="020B0004020202020204" pitchFamily="34" charset="0"/>
                <a:cs typeface="Times New Roman" panose="02020603050405020304" pitchFamily="18" charset="0"/>
              </a:rPr>
              <a:t>7</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299 (2022). </a:t>
            </a:r>
            <a:r>
              <a:rPr lang="en-IN" sz="36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https://doi.org/10.1007/s41062-022-00895-9</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H. Liu, C. E. Flores, J. Spring, S. E.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Shladover</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and X. -Y. Lu, "Field Assessment of Intersection Performance Enhanced by Traffic Signal Optimization and Vehicle Trajectory Planning," in IEEE Transactions on Intelligent Transportation Systems, vol. 23, no. 8, pp. 11549-11561, Aug. 2022,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10.1109/TITS.2021.3105329.</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S. S. S. Mohiuddin Qadri, A. Almusawi, M.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Albdairi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and E.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Esirgün</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"Optimizing Traffic Signal Timing at Urban Intersections: A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Simheuristic</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Approach Using GA and SUMO," 2024 Innovations in Intelligent Systems and Applications Conference (ASYU), Ankara,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Turkiye</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2024, pp. 1-6,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10.1109/ASYU62119.2024.10757086.</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H. Yang, F. Almutairi and H. Rakha, "Eco-Driving at Signalized Intersections: A Multiple Signal Optimization Approach," in IEEE Transactions on Intelligent Transportation Systems, vol. 22, no. 5, pp. 2943-2955, May 2021,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10.1109/TITS.2020.2978184.</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P. Zhou, Z. Fang, H. Dong, J. Liu and S. Pan, "Data analysis with multi-objective optimization algorithm: A study in smart traffic signal system," 2022 IEEE 15th International Conference on Software Engineering Research, Management and Applications (SERA), London, UK, 2022, pp. 307-310,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10.1109/SERA.2017.7965743. </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H. Wang, M. Zhu, W. Hong, C. Wang, G. Tao and Y. Wang, "Optimizing Signal Timing Control for Large Urban Traffic Networks Using an Adaptive Linear Quadratic Regulator Control Strategy," in IEEE Transactions on Intelligent Transportation Systems, vol. 23, no. 1, pp. 333-343, Jan. 2022,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10.1109/TITS.2020.3010725.</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Su, Wei,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Chaoxu</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Mu, Lei Xue,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Xiaobao</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Yang, and Song Zhu. "An improved traffic coordination control integrating traffic flow prediction and optimization." </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Engineering Applications of Artificial Intelligence</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143 (2025): 109969.</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Nayeri, Omid, Abbas Babazadeh, Elham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Golpayegani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and Mohammad Nayeri. "Traffic signal optimization using hierarchical reinforcement learning: incorporating pedestrian dynamics and flashing light mode." </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Transportation Planning and Technology</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(2025): 1-30.</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Wang, Lijuan,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Guoshan</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Zhang,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Qiaoli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Yang, and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Tianyang</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Han. "An adaptive traffic signal control scheme with Proximal Policy Optimization based on deep reinforcement learning for a single intersection." </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Engineering Applications of Artificial Intelligence</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149 (2025): 110440.H. Wang, H. Chen, Q. Wu, C. Ma and Y. Li, "Multi-Intersection Traffic Optimisation: A Benchmark Dataset and a Strong Baseline," in IEEE Open Journal of Intelligent Transportation Systems, vol. 3, pp. 126-136, 2022,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10.1109/OJITS.2021.3126126.</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Azad‐Manjiri, Meisam, Mohsen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Afsharchi</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and Monireh Abdoos. "DDPGAT: Integrating MADDPG and GAT for optimized urban traffic light control." </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IET Intelligent Transport Systems</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19.1 (2025): e70000.</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50000"/>
              </a:lnSpc>
              <a:spcAft>
                <a:spcPts val="800"/>
              </a:spcAft>
            </a:pP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Zhang,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Gongquan</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Fengze</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Li, Dian Ren, Helai Huang, Zilong Zhou, and </a:t>
            </a:r>
            <a:r>
              <a:rPr lang="en-IN" sz="3600" kern="100" dirty="0" err="1">
                <a:effectLst/>
                <a:latin typeface="Times New Roman" panose="02020603050405020304" pitchFamily="18" charset="0"/>
                <a:ea typeface="Aptos" panose="020B0004020202020204" pitchFamily="34" charset="0"/>
                <a:cs typeface="Times New Roman" panose="02020603050405020304" pitchFamily="18" charset="0"/>
              </a:rPr>
              <a:t>Fangrong</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Chang. "Cooperative control of self-learning traffic signal and connected automated vehicles for safety and efficiency optimization at intersections." </a:t>
            </a:r>
            <a:r>
              <a:rPr lang="en-IN" sz="3600" i="1" kern="100" dirty="0">
                <a:effectLst/>
                <a:latin typeface="Times New Roman" panose="02020603050405020304" pitchFamily="18" charset="0"/>
                <a:ea typeface="Aptos" panose="020B0004020202020204" pitchFamily="34" charset="0"/>
                <a:cs typeface="Times New Roman" panose="02020603050405020304" pitchFamily="18" charset="0"/>
              </a:rPr>
              <a:t>Accident Analysis &amp; Prevention</a:t>
            </a:r>
            <a:r>
              <a:rPr lang="en-IN" sz="3600" kern="100" dirty="0">
                <a:effectLst/>
                <a:latin typeface="Times New Roman" panose="02020603050405020304" pitchFamily="18" charset="0"/>
                <a:ea typeface="Aptos" panose="020B0004020202020204" pitchFamily="34" charset="0"/>
                <a:cs typeface="Times New Roman" panose="02020603050405020304" pitchFamily="18" charset="0"/>
              </a:rPr>
              <a:t> 211 (2025): 107890.</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61127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0FAB5-619B-08FF-7C0E-D787BD3B889A}"/>
              </a:ext>
            </a:extLst>
          </p:cNvPr>
          <p:cNvSpPr>
            <a:spLocks noGrp="1"/>
          </p:cNvSpPr>
          <p:nvPr>
            <p:ph idx="1"/>
          </p:nvPr>
        </p:nvSpPr>
        <p:spPr/>
        <p:txBody>
          <a:bodyPr>
            <a:normAutofit/>
          </a:bodyPr>
          <a:lstStyle/>
          <a:p>
            <a:pPr marL="0" indent="0" algn="ctr">
              <a:buNone/>
            </a:pPr>
            <a:r>
              <a:rPr lang="en-IN" sz="11500" dirty="0">
                <a:solidFill>
                  <a:srgbClr val="002060"/>
                </a:solidFill>
              </a:rPr>
              <a:t>Thank You</a:t>
            </a:r>
          </a:p>
        </p:txBody>
      </p:sp>
    </p:spTree>
    <p:extLst>
      <p:ext uri="{BB962C8B-B14F-4D97-AF65-F5344CB8AC3E}">
        <p14:creationId xmlns:p14="http://schemas.microsoft.com/office/powerpoint/2010/main" val="56919351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2068</TotalTime>
  <Words>2471</Words>
  <Application>Microsoft Office PowerPoint</Application>
  <PresentationFormat>Widescreen</PresentationFormat>
  <Paragraphs>222</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Calibri</vt:lpstr>
      <vt:lpstr>Century Schoolbook</vt:lpstr>
      <vt:lpstr>Times New Roman</vt:lpstr>
      <vt:lpstr>Wingdings</vt:lpstr>
      <vt:lpstr>Wingdings 2</vt:lpstr>
      <vt:lpstr>View</vt:lpstr>
      <vt:lpstr>Optimization of Traffic Signal Timing for Urban Intersections </vt:lpstr>
      <vt:lpstr>Introduction</vt:lpstr>
      <vt:lpstr>Problem statement</vt:lpstr>
      <vt:lpstr>Objectives of the Research</vt:lpstr>
      <vt:lpstr>Research Questions </vt:lpstr>
      <vt:lpstr>Literature review</vt:lpstr>
      <vt:lpstr>PowerPoint Presentation</vt:lpstr>
      <vt:lpstr>Methodology</vt:lpstr>
      <vt:lpstr>Methodology Modelling</vt:lpstr>
      <vt:lpstr>Model evaluation </vt:lpstr>
      <vt:lpstr> Model Performance Overview </vt:lpstr>
      <vt:lpstr>Conclusion</vt:lpstr>
      <vt:lpstr>Future work</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 alashetty</dc:creator>
  <cp:lastModifiedBy>19671A0113 Arun teja</cp:lastModifiedBy>
  <cp:revision>3</cp:revision>
  <dcterms:created xsi:type="dcterms:W3CDTF">2025-05-10T00:21:24Z</dcterms:created>
  <dcterms:modified xsi:type="dcterms:W3CDTF">2026-01-31T05:07:27Z</dcterms:modified>
</cp:coreProperties>
</file>